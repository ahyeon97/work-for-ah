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4회차(7~8차시) 중 앞 차시입니다. 공통 주제는 '생활과 공동체'이며, 관광 명소가 아니라 주민의 일상 생활 공간에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강사가 '버스를 타고 도서관에 갔다가 공원에서 놀고 돌아온 어린이' 이야기를 들려줍니다. 학생은 도움을 준 사람과 장소를 찾아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[교사용] 관광 명소가 아니라 주민의 일상 공간에 초점을 맞춥니다. 도시(천안)와 농촌(아산 외곽) 사진을 섞어 제시하면 비교가 쉬워집니다. 사진은 웹 검색 이미지 대신 공공누리 자료 또는 직접 촬영·제작 자료를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질문을 한 장소씩 순서대로 적용하게 하면 학생들이 관찰과 짐작을 구분하기 쉬워집니다.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두 가지를 함께 읽은 뒤 모둠 활동으로 넘어갑니다. 화살표 방향이 '도움을 주는 사람 → 장소 → 도움받는 주민'임을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모둠별로 카드를 놓고 화살표를 그립니다. 관계가 하나만 나온 모둠에는 '이 마을에서 또 도움을 주는 사람은 누구일까요?'라고 되물어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불편을 '누가' 겪는지 반드시 사람을 지목해 말하게 합니다. 여기서 나온 답이 8차시 마을회의의 출발점이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문장을 모두 완성하게 하고, 짝에게 설명할 때 연결지도의 어느 부분을 보고 말하는지 가리키게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4회차(7~8차시) 중 뒤 차시이자 천안·아산 권역의 마지막 차시입니다. 7차시 도움 연결지도를 반드시 준비해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7차시에 만든 도움 연결지도를 펼쳐 공원과 관계된 사람을 먼저 찾게 한 뒤, 가상 상황을 들려줍니다.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카드를 읽기만 하고 넘어가지 않도록, 반드시 '까닭'까지 말하게 합니다. 되짚어 말하기는 다음 활동에서 다른 사람의 요구를 반영하기 위한 준비입니다.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[교사용] 모둠을 돌며 '누구의 바람이 아직 빠져 있나요?', '두 의견을 함께 반영할 수 있을까요?'라고 물어 주세요. 안전: 카드와 도면은 모둠 책상 앞에서만 주고받고, 이동을 최소화합니다.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질문 모두 '누구를 위한 공원인가'로 돌아오게 하는 장치입니다. 시간을 나누는 해결(예: 오전은 조용한 시간)도 좋은 답으로 인정해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모둠 전체가 이동하지 않고, 설명할 한 명만 이웃 모둠으로 가거나 도면을 돌려 보게 하면 이동이 줄어 안전합니다.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'어린이가 실천할 일'과 '어른·기관에 요청할 일'을 구분하는 것이 이 차시의 마무리 지점입니다. 예: 쓰레기를 되가져가기(어린이) / 길 폭을 넓혀 달라고 요청하기(기관).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천안·아산 권역 8차시를 마무리하는 슬라이드입니다. 네 가지 공통 주제를 되짚으며 프로그램 전체를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37160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00" kern="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앵커 늘봄 프로그램   ·   천안 · 아산 〈호서대학교〉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27632"/>
            <a:ext cx="9601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우리고장 탐험놀이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685800" y="2871216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871216"/>
            <a:ext cx="1225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167128" y="287121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천안 · 아산의 생활 공간과 서로 돕는 사람들을 알아보아요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758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주제  생활과 공동체   ·   40분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742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:                              보조강사 :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 수업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1993392"/>
            <a:ext cx="5218024" cy="1207008"/>
          </a:xfrm>
          <a:prstGeom prst="roundRect">
            <a:avLst>
              <a:gd name="adj" fmla="val 7576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2304288"/>
            <a:ext cx="585216" cy="5852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6696" y="23042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764792" y="2249424"/>
            <a:ext cx="3846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하루 속 도움 찾기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764792" y="2651760"/>
            <a:ext cx="384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· 5분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87872" y="1993392"/>
            <a:ext cx="5218024" cy="1207008"/>
          </a:xfrm>
          <a:prstGeom prst="roundRect">
            <a:avLst>
              <a:gd name="adj" fmla="val 7576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98768" y="2304288"/>
            <a:ext cx="585216" cy="5852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98768" y="23042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66864" y="2249424"/>
            <a:ext cx="3846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사진 탐정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66864" y="2651760"/>
            <a:ext cx="384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1 · 8분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511296"/>
            <a:ext cx="5218024" cy="1207008"/>
          </a:xfrm>
          <a:prstGeom prst="roundRect">
            <a:avLst>
              <a:gd name="adj" fmla="val 7576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" y="3822192"/>
            <a:ext cx="585216" cy="5852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696" y="3822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764792" y="3767328"/>
            <a:ext cx="3846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마을 도움 연결지도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764792" y="4169664"/>
            <a:ext cx="384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2 · 15분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87872" y="3511296"/>
            <a:ext cx="5218024" cy="1207008"/>
          </a:xfrm>
          <a:prstGeom prst="roundRect">
            <a:avLst>
              <a:gd name="adj" fmla="val 7576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8768" y="3822192"/>
            <a:ext cx="585216" cy="5852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98768" y="3822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66864" y="3767328"/>
            <a:ext cx="3846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멈춘 하루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366864" y="4169664"/>
            <a:ext cx="384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3 · 8분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5358384"/>
            <a:ext cx="10820095" cy="566928"/>
          </a:xfrm>
          <a:prstGeom prst="roundRect">
            <a:avLst>
              <a:gd name="adj" fmla="val 16129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6696" y="53583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  ·   연결 문장 완성하기 (4분)  —  완성한 연결지도는 8차시 마을회의에 그대로 사용해요.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수업에서 우리가 할 수 있게 되는 것들이에요.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10820095" cy="969264"/>
          </a:xfrm>
          <a:prstGeom prst="roundRect">
            <a:avLst>
              <a:gd name="adj" fmla="val 9434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2715768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2715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73352" y="2468880"/>
            <a:ext cx="94484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천안·아산의 생활 공간이 어떤 곳이고 누가 이용하는지 설명할 수 있다.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712464"/>
            <a:ext cx="10820095" cy="969264"/>
          </a:xfrm>
          <a:prstGeom prst="roundRect">
            <a:avLst>
              <a:gd name="adj" fmla="val 9434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" y="3959352"/>
            <a:ext cx="475488" cy="47548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4984" y="3959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73352" y="3712464"/>
            <a:ext cx="94484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마을에서 도움을 주고받는 사람과 장소의 관계를 연결지도로 나타낼 수 있다.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4956048"/>
            <a:ext cx="10820095" cy="969264"/>
          </a:xfrm>
          <a:prstGeom prst="roundRect">
            <a:avLst>
              <a:gd name="adj" fmla="val 9434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" y="5202936"/>
            <a:ext cx="475488" cy="47548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4984" y="5202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73352" y="4956048"/>
            <a:ext cx="94484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멈춘 상황에서 불편을 겪을 사람을 찾아 까닭과 함께 말할 수 있다.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3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37160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179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18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배움 열기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21024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하루 속 도움 찾기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4718304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7183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471830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어린이의 하루 이야기를 들으며 도움을 준 사람과 장소를 찾아요.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· 5분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하루 속 도움 찾기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강사가 들려주는 어린이의 하루를 따라가며, 도움을 준 사람과 장소를 찾아보아요.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2389556" cy="1700784"/>
          </a:xfrm>
          <a:prstGeom prst="roundRect">
            <a:avLst>
              <a:gd name="adj" fmla="val 5376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2395728"/>
            <a:ext cx="209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버스를 타요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779776"/>
            <a:ext cx="20969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정류장에서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버스를 기다려요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7652" y="2944368"/>
            <a:ext cx="256032" cy="23774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5980" y="2212848"/>
            <a:ext cx="2389556" cy="1700784"/>
          </a:xfrm>
          <a:prstGeom prst="roundRect">
            <a:avLst>
              <a:gd name="adj" fmla="val 5376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42284" y="2395728"/>
            <a:ext cx="209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도서관에 가요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2779776"/>
            <a:ext cx="20969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싶은 책을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67832" y="2944368"/>
            <a:ext cx="256032" cy="23774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6160" y="2212848"/>
            <a:ext cx="2389556" cy="1700784"/>
          </a:xfrm>
          <a:prstGeom prst="roundRect">
            <a:avLst>
              <a:gd name="adj" fmla="val 5376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2464" y="2395728"/>
            <a:ext cx="209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공원에서 놀아요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52464" y="2779776"/>
            <a:ext cx="20969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친구와 함께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뛰어놀아요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78011" y="2944368"/>
            <a:ext cx="256032" cy="23774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16339" y="2212848"/>
            <a:ext cx="2389556" cy="1700784"/>
          </a:xfrm>
          <a:prstGeom prst="roundRect">
            <a:avLst>
              <a:gd name="adj" fmla="val 5376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62643" y="2395728"/>
            <a:ext cx="209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집으로 돌아와요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62643" y="2779776"/>
            <a:ext cx="20969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버스를 타고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가요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370832"/>
            <a:ext cx="10820095" cy="877824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8408" y="4370832"/>
            <a:ext cx="102348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발문   </a:t>
            </a:r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아이가 하루를 보내려면 누구의 도움이 필요했을까요?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468112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이름과 사람의 역할을 나누어 말하게 해 주세요.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37160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179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18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배움 몰입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21024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사진 탐정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4718304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7183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471830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천안·아산의 도시와 농촌 생활 사진을 살펴보아요.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1 · 8분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사진 탐정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천안·아산의 생활 사진을 보고, 주민들이 날마다 이용하는 공간을 찾아보아요.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2458136" cy="1920240"/>
          </a:xfrm>
          <a:prstGeom prst="roundRect">
            <a:avLst>
              <a:gd name="adj" fmla="val 3810"/>
            </a:avLst>
          </a:prstGeom>
          <a:solidFill>
            <a:srgbClr val="F7FAF4"/>
          </a:solidFill>
          <a:ln w="19050">
            <a:solidFill>
              <a:srgbClr val="97BC62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85800" y="2788920"/>
            <a:ext cx="245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삽입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81528"/>
            <a:ext cx="227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 정류장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3120" y="2212848"/>
            <a:ext cx="2458136" cy="1920240"/>
          </a:xfrm>
          <a:prstGeom prst="roundRect">
            <a:avLst>
              <a:gd name="adj" fmla="val 3810"/>
            </a:avLst>
          </a:prstGeom>
          <a:solidFill>
            <a:srgbClr val="F7FAF4"/>
          </a:solidFill>
          <a:ln w="19050">
            <a:solidFill>
              <a:srgbClr val="97BC62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473120" y="2788920"/>
            <a:ext cx="245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삽입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64560" y="3081528"/>
            <a:ext cx="227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0440" y="2212848"/>
            <a:ext cx="2458136" cy="1920240"/>
          </a:xfrm>
          <a:prstGeom prst="roundRect">
            <a:avLst>
              <a:gd name="adj" fmla="val 3810"/>
            </a:avLst>
          </a:prstGeom>
          <a:solidFill>
            <a:srgbClr val="F7FAF4"/>
          </a:solidFill>
          <a:ln w="19050">
            <a:solidFill>
              <a:srgbClr val="97BC62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260440" y="2788920"/>
            <a:ext cx="245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삽입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51880" y="3081528"/>
            <a:ext cx="227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47759" y="2212848"/>
            <a:ext cx="2458136" cy="1920240"/>
          </a:xfrm>
          <a:prstGeom prst="roundRect">
            <a:avLst>
              <a:gd name="adj" fmla="val 3810"/>
            </a:avLst>
          </a:prstGeom>
          <a:solidFill>
            <a:srgbClr val="F7FAF4"/>
          </a:solidFill>
          <a:ln w="19050">
            <a:solidFill>
              <a:srgbClr val="97BC62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9047759" y="2788920"/>
            <a:ext cx="245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삽입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39199" y="3081528"/>
            <a:ext cx="227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 공동공간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4389120"/>
            <a:ext cx="10820095" cy="1005840"/>
          </a:xfrm>
          <a:prstGeom prst="roundRect">
            <a:avLst>
              <a:gd name="adj" fmla="val 9091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696" y="4690872"/>
            <a:ext cx="402336" cy="40233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6696" y="4690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27048" y="4690872"/>
            <a:ext cx="26862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장소인가요?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96130" y="4690872"/>
            <a:ext cx="402336" cy="40233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6130" y="4690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26482" y="4690872"/>
            <a:ext cx="26862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이용하나요?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95565" y="4690872"/>
            <a:ext cx="402336" cy="40233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95565" y="4690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325917" y="4690872"/>
            <a:ext cx="26862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필요한가요?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614416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사진은 공공누리 자료 또는 직접 촬영·제작 자료로 준비해 주세요.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1 · 8분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사진을 보는 세 가지 눈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사진도 이렇게 나누어 보면 훨씬 많은 것이 보여요.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3350666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" y="2487168"/>
            <a:ext cx="530352" cy="53035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6696" y="2487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55064" y="2487168"/>
            <a:ext cx="20887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장소인지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96696" y="3163824"/>
            <a:ext cx="272887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 하는 일을 말해요.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책을 빌리고 읽는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도서관이에요.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20514" y="2212848"/>
            <a:ext cx="3350666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1410" y="2487168"/>
            <a:ext cx="530352" cy="53035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1410" y="2487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89778" y="2487168"/>
            <a:ext cx="20887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이용하는지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731410" y="3163824"/>
            <a:ext cx="272887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이용하는 사람을 떠올려요.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학생, 어르신,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아기와 함께 온 부모님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55229" y="2212848"/>
            <a:ext cx="3350666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66125" y="2487168"/>
            <a:ext cx="530352" cy="53035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66125" y="2487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24493" y="2487168"/>
            <a:ext cx="20887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필요한지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466125" y="3163824"/>
            <a:ext cx="272887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어떤 점이 불편할지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생각해요.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책을 사지 않아도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읽을 수 있어요.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956048"/>
            <a:ext cx="10820095" cy="786384"/>
          </a:xfrm>
          <a:prstGeom prst="roundRect">
            <a:avLst>
              <a:gd name="adj" fmla="val 1162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6696" y="4956048"/>
            <a:ext cx="1019830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관광 명소가 아니라, 주민이 날마다 이용하는 생활 공간을 찾아요.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37160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179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18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배움 몰입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21024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마을 도움 연결지도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4718304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7183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471830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· 장소 · 도움받는 주민을 카드와 화살표로 연결해요.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2 · 15분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연결해요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사람에서 시작해 장소를 거쳐, 도움을 받는 주민까지 이어 보아요.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2279904" cy="676656"/>
          </a:xfrm>
          <a:prstGeom prst="roundRect">
            <a:avLst>
              <a:gd name="adj" fmla="val 13514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2395728"/>
            <a:ext cx="1987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48000" y="2432304"/>
            <a:ext cx="256032" cy="23774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6328" y="2212848"/>
            <a:ext cx="2279904" cy="676656"/>
          </a:xfrm>
          <a:prstGeom prst="roundRect">
            <a:avLst>
              <a:gd name="adj" fmla="val 13514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2632" y="2395728"/>
            <a:ext cx="1987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48528" y="2432304"/>
            <a:ext cx="256032" cy="23774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6856" y="2212848"/>
            <a:ext cx="2279904" cy="676656"/>
          </a:xfrm>
          <a:prstGeom prst="roundRect">
            <a:avLst>
              <a:gd name="adj" fmla="val 13514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160" y="2395728"/>
            <a:ext cx="1987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찾는 주민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695944" y="2212848"/>
            <a:ext cx="280995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 :  필요한 책을 찾아 주고, 조용히 읽을 자리를 마련해 주어요.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94436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이용하는 주민이 함께 할 일 :  반납일을 지켜요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785616"/>
            <a:ext cx="2279904" cy="676656"/>
          </a:xfrm>
          <a:prstGeom prst="roundRect">
            <a:avLst>
              <a:gd name="adj" fmla="val 13514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968496"/>
            <a:ext cx="1987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 운전기사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48000" y="4005072"/>
            <a:ext cx="256032" cy="23774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6328" y="3785616"/>
            <a:ext cx="2279904" cy="676656"/>
          </a:xfrm>
          <a:prstGeom prst="roundRect">
            <a:avLst>
              <a:gd name="adj" fmla="val 13514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32632" y="3968496"/>
            <a:ext cx="1987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버스와 정류장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48528" y="4005072"/>
            <a:ext cx="256032" cy="23774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6856" y="3785616"/>
            <a:ext cx="2279904" cy="676656"/>
          </a:xfrm>
          <a:prstGeom prst="roundRect">
            <a:avLst>
              <a:gd name="adj" fmla="val 13514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33160" y="3968496"/>
            <a:ext cx="1987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이동하는 주민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695944" y="3785616"/>
            <a:ext cx="280995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 :  걸어서 가기 먼 곳까지 안전하게 데려다주어요.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51713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이용하는 주민이 함께 할 일 :  차례를 지켜 타고 내려요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5358384"/>
            <a:ext cx="10820095" cy="841248"/>
          </a:xfrm>
          <a:prstGeom prst="roundRect">
            <a:avLst>
              <a:gd name="adj" fmla="val 1304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8408" y="5358384"/>
            <a:ext cx="102348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발문   </a:t>
            </a:r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마을에서는 또 누가, 어디에서, 누구를 도와줄까요?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2 · 15분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모둠 도움 연결지도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카드와 화살표로 두 가지 이상의 관계를 만들어 보아요.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2127504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2395728"/>
            <a:ext cx="1834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779776"/>
            <a:ext cx="1834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      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95600" y="2578608"/>
            <a:ext cx="256032" cy="23774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33928" y="2212848"/>
            <a:ext cx="2127504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0232" y="2395728"/>
            <a:ext cx="1834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80232" y="2779776"/>
            <a:ext cx="1834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      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3728" y="2578608"/>
            <a:ext cx="256032" cy="23774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82056" y="2212848"/>
            <a:ext cx="2127504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28360" y="2395728"/>
            <a:ext cx="1834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도움받는 주민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28360" y="2779776"/>
            <a:ext cx="1834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      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194560"/>
            <a:ext cx="3267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도움인가요?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38744" y="2505456"/>
            <a:ext cx="3267151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85800" y="3438144"/>
            <a:ext cx="2127504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" y="3621024"/>
            <a:ext cx="1834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" y="4005072"/>
            <a:ext cx="1834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      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895600" y="3803904"/>
            <a:ext cx="256032" cy="23774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3928" y="3438144"/>
            <a:ext cx="2127504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0232" y="3621024"/>
            <a:ext cx="1834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380232" y="4005072"/>
            <a:ext cx="1834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      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43728" y="3803904"/>
            <a:ext cx="256032" cy="23774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82056" y="3438144"/>
            <a:ext cx="2127504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28360" y="3621024"/>
            <a:ext cx="1834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도움받는 주민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928360" y="4005072"/>
            <a:ext cx="1834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      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38744" y="3419856"/>
            <a:ext cx="3267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도움인가요?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38744" y="3730752"/>
            <a:ext cx="3267151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85800" y="4773168"/>
            <a:ext cx="10820095" cy="1060704"/>
          </a:xfrm>
          <a:prstGeom prst="roundRect">
            <a:avLst>
              <a:gd name="adj" fmla="val 8621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6696" y="4882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62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이것만은 꼭 확인해요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96696" y="5212080"/>
            <a:ext cx="101983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관계를 두 가지 이상 만들었나요?</a:t>
            </a:r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어떤 도움인지 적었나요?</a:t>
            </a:r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이용하는 주민이 함께 할 일도 덧붙였나요?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37160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179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18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배움 몰입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21024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멈춘 하루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4718304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7183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471830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사라졌을 때 누가 어떤 불편을 겪을지 생각해요.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3 · 8분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멈춘 하루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상황 하나를 골라, 연결지도에서 불편을 겪을 사람을 찾아보아요.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3566160" cy="1883664"/>
          </a:xfrm>
          <a:prstGeom prst="roundRect">
            <a:avLst>
              <a:gd name="adj" fmla="val 5825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3957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262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 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432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도서관을 하루 동안</a:t>
            </a:r>
            <a:endParaRPr lang="en-US" sz="20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이용할 수 없다면?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636008" y="2212848"/>
            <a:ext cx="3566160" cy="1883664"/>
          </a:xfrm>
          <a:prstGeom prst="roundRect">
            <a:avLst>
              <a:gd name="adj" fmla="val 5825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0328" y="23957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262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 B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10328" y="27432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시설이</a:t>
            </a:r>
            <a:endParaRPr lang="en-US" sz="20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났다면?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586216" y="2212848"/>
            <a:ext cx="2919679" cy="188366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0536" y="2340864"/>
            <a:ext cx="23710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생각하는 순서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60536" y="2724912"/>
            <a:ext cx="274320" cy="2743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0536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688336"/>
            <a:ext cx="2005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 카드 하나를 골라요.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60536" y="3200400"/>
            <a:ext cx="274320" cy="2743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0536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226296" y="3163824"/>
            <a:ext cx="2005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연결지도에서 불편을 겪을</a:t>
            </a:r>
            <a:endParaRPr lang="en-US" sz="13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사람을 찾아요.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60536" y="3675888"/>
            <a:ext cx="274320" cy="2743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0536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3639312"/>
            <a:ext cx="2005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불편인지 설명해요.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389120"/>
            <a:ext cx="10820095" cy="877824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8408" y="4389120"/>
            <a:ext cx="102348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발문   </a:t>
            </a:r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상황에서도 사람마다 필요한 도움이 다를까요?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48640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아니라 여러 사람을 떠올리도록 도와주세요. 어린이, 어르신, 아기와 함께 온 부모님, 일하러 가는 주민 등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4분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문장 완성하기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연결지도를 보며 문장 두 개를 완성하고 짝에게 설명해요.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10820095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212848"/>
            <a:ext cx="1008857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 은/는  ○○ 을/를  도와주어요.   그래서  ○○ 할 수 있어요.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85800" y="3931920"/>
            <a:ext cx="5218024" cy="1243584"/>
          </a:xfrm>
          <a:prstGeom prst="roundRect">
            <a:avLst>
              <a:gd name="adj" fmla="val 7353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078224"/>
            <a:ext cx="466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262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①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407408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사서는 책을 찾는 주민을 도와주어요.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사고 싶지 않아도 책을 읽을 수 있어요.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87872" y="3931920"/>
            <a:ext cx="5218024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62192" y="4078224"/>
            <a:ext cx="466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262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②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62192" y="4407408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    )은/는 (     )을/를 도와주어요.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(     )할 수 있어요.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5504688"/>
            <a:ext cx="10820095" cy="585216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6696" y="5504688"/>
            <a:ext cx="1019830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완성한 도움 연결지도는 다음 차시 마을회의에 그대로 활용해요.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3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37160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00" kern="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앵커 늘봄 프로그램   ·   천안 · 아산 〈호서대학교〉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27632"/>
            <a:ext cx="9601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우리고장 탐험놀이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685800" y="2871216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871216"/>
            <a:ext cx="1225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167128" y="287121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함께 이용할 마을 공원 배치를 제안해요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758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주제  생활과 공동체   ·   40분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742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:                              보조강사 :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 수업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1993392"/>
            <a:ext cx="5218024" cy="1207008"/>
          </a:xfrm>
          <a:prstGeom prst="roundRect">
            <a:avLst>
              <a:gd name="adj" fmla="val 7576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2304288"/>
            <a:ext cx="585216" cy="5852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6696" y="23042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764792" y="2249424"/>
            <a:ext cx="3846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장소, 다른 바람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764792" y="2651760"/>
            <a:ext cx="384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· 5분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87872" y="1993392"/>
            <a:ext cx="5218024" cy="1207008"/>
          </a:xfrm>
          <a:prstGeom prst="roundRect">
            <a:avLst>
              <a:gd name="adj" fmla="val 7576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98768" y="2304288"/>
            <a:ext cx="585216" cy="5852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98768" y="23042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66864" y="2249424"/>
            <a:ext cx="3846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주민의 마음 읽기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66864" y="2651760"/>
            <a:ext cx="384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1 · 8분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511296"/>
            <a:ext cx="5218024" cy="1207008"/>
          </a:xfrm>
          <a:prstGeom prst="roundRect">
            <a:avLst>
              <a:gd name="adj" fmla="val 7576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" y="3822192"/>
            <a:ext cx="585216" cy="5852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696" y="3822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764792" y="3767328"/>
            <a:ext cx="3846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마을회의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764792" y="4169664"/>
            <a:ext cx="384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2 · 15분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87872" y="3511296"/>
            <a:ext cx="5218024" cy="1207008"/>
          </a:xfrm>
          <a:prstGeom prst="roundRect">
            <a:avLst>
              <a:gd name="adj" fmla="val 7576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8768" y="3822192"/>
            <a:ext cx="585216" cy="5852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98768" y="3822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66864" y="3767328"/>
            <a:ext cx="3846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모둠 의견 듣기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366864" y="4169664"/>
            <a:ext cx="384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3 · 8분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5358384"/>
            <a:ext cx="10820095" cy="566928"/>
          </a:xfrm>
          <a:prstGeom prst="roundRect">
            <a:avLst>
              <a:gd name="adj" fmla="val 16129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6696" y="53583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  ·   우리들의 마을 제안 (4분)  —  제안 · 도움이 되는 사람 · 그렇게 정한 이유를 기록해요.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수업에서 우리가 할 수 있게 되는 것들이에요.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10820095" cy="969264"/>
          </a:xfrm>
          <a:prstGeom prst="roundRect">
            <a:avLst>
              <a:gd name="adj" fmla="val 9434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2715768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2715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73352" y="2468880"/>
            <a:ext cx="94484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공간을 이용하는 주민들의 서로 다른 바람을 찾아 말할 수 있다.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712464"/>
            <a:ext cx="10820095" cy="969264"/>
          </a:xfrm>
          <a:prstGeom prst="roundRect">
            <a:avLst>
              <a:gd name="adj" fmla="val 9434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" y="3959352"/>
            <a:ext cx="475488" cy="47548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4984" y="3959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73352" y="3712464"/>
            <a:ext cx="94484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요구를 두 가지 이상 반영하여 마을 공원 배치를 제안할 수 있다.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4956048"/>
            <a:ext cx="10820095" cy="969264"/>
          </a:xfrm>
          <a:prstGeom prst="roundRect">
            <a:avLst>
              <a:gd name="adj" fmla="val 9434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" y="5202936"/>
            <a:ext cx="475488" cy="47548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4984" y="5202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73352" y="4956048"/>
            <a:ext cx="94484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모둠의 의견을 듣고 우리 제안을 한 가지 고쳐 까닭과 함께 설명할 수 있다.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3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37160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179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18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배움 열기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21024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장소, 다른 바람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4718304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7183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471830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연결지도에서 공원과 관계된 사람들을 찾아요.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· 5분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장소, 다른 바람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공원 하나를 세 주민이 함께 이용한다면 어떤 일이 생길까요?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3350666" cy="1956816"/>
          </a:xfrm>
          <a:prstGeom prst="roundRect">
            <a:avLst>
              <a:gd name="adj" fmla="val 5607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414016"/>
            <a:ext cx="2802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 공간이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주민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18688"/>
            <a:ext cx="280202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“마음껏 뛰어놀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자리가 있으면 좋겠어요.”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20514" y="2212848"/>
            <a:ext cx="3350666" cy="1956816"/>
          </a:xfrm>
          <a:prstGeom prst="roundRect">
            <a:avLst>
              <a:gd name="adj" fmla="val 5607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94834" y="2414016"/>
            <a:ext cx="2802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조용한 쉼터가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주민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94834" y="3218688"/>
            <a:ext cx="280202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“잠시 앉아 쉴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조용한 자리가 필요해요.”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55229" y="2212848"/>
            <a:ext cx="3350666" cy="1956816"/>
          </a:xfrm>
          <a:prstGeom prst="roundRect">
            <a:avLst>
              <a:gd name="adj" fmla="val 5607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29549" y="2414016"/>
            <a:ext cx="2802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이동길이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주민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29549" y="3218688"/>
            <a:ext cx="280202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“유아차와 휠체어도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지날 수 있어야 해요.”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462272"/>
            <a:ext cx="10820095" cy="877824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8408" y="4462272"/>
            <a:ext cx="102348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발문   </a:t>
            </a:r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공원이 있어도 모두 똑같이 만족할까요?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559552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사람 모두 ‘공원이 필요하다’는 점은 같지만, 필요한 모습은 서로 달라요.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3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37160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179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18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배움 몰입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21024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주민의 마음 읽기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4718304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7183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471830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카드를 나누어 읽고, 서로의 바람을 말과 귀로 주고받아요.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1 · 8분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주민의 마음 읽기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모둠원이 역할 카드를 하나씩 맡아, 자기 바람을 까닭과 함께 말해요.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2471852" cy="1280160"/>
          </a:xfrm>
          <a:prstGeom prst="roundRect">
            <a:avLst>
              <a:gd name="adj" fmla="val 8571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" y="237744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3544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2816352"/>
            <a:ext cx="19963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 공간이</a:t>
            </a: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주민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68548" y="2212848"/>
            <a:ext cx="2471852" cy="1280160"/>
          </a:xfrm>
          <a:prstGeom prst="roundRect">
            <a:avLst>
              <a:gd name="adj" fmla="val 8571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6292" y="237744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06292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06292" y="2816352"/>
            <a:ext cx="19963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조용한 쉼터가</a:t>
            </a: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주민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51296" y="2212848"/>
            <a:ext cx="2471852" cy="1280160"/>
          </a:xfrm>
          <a:prstGeom prst="roundRect">
            <a:avLst>
              <a:gd name="adj" fmla="val 8571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89040" y="237744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890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89040" y="2816352"/>
            <a:ext cx="19963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이동길이</a:t>
            </a: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주민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34043" y="2212848"/>
            <a:ext cx="2471852" cy="1280160"/>
          </a:xfrm>
          <a:prstGeom prst="roundRect">
            <a:avLst>
              <a:gd name="adj" fmla="val 8571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71787" y="237744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71787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71787" y="2816352"/>
            <a:ext cx="19963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관리</a:t>
            </a: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3785616"/>
            <a:ext cx="10820095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" y="3785616"/>
            <a:ext cx="100885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“저는 ○○ 이 필요해요.  왜냐하면 ○○ 이기 때문이에요.”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685800" y="5175504"/>
            <a:ext cx="10820095" cy="749808"/>
          </a:xfrm>
          <a:prstGeom prst="roundRect">
            <a:avLst>
              <a:gd name="adj" fmla="val 12195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6696" y="5175504"/>
            <a:ext cx="1019830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친구는 “너는 ○○ 이 필요하구나.” 하고 들은 내용을 되짚어 말해 주어요.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3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37160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179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18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배움 몰입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21024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마을회의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4718304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7183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471830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도면에 카드를 놓으며 모두를 위한 배치를 만들어요.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2 · 15분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마을회의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도면 위에 공간 카드를 놓고, 입구와 각 공간을 길로 연결해요.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5120640" cy="2944368"/>
          </a:xfrm>
          <a:prstGeom prst="roundRect">
            <a:avLst>
              <a:gd name="adj" fmla="val 2484"/>
            </a:avLst>
          </a:prstGeom>
          <a:solidFill>
            <a:srgbClr val="F7FAF4"/>
          </a:solidFill>
          <a:ln w="19050">
            <a:solidFill>
              <a:srgbClr val="97BC62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85800" y="33009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도면 준비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935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도면  ·  모둠별 1장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135624" y="2212848"/>
            <a:ext cx="53702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62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놓을 카드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35624" y="2596896"/>
            <a:ext cx="5370271" cy="475488"/>
          </a:xfrm>
          <a:prstGeom prst="roundRect">
            <a:avLst>
              <a:gd name="adj" fmla="val 19231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25968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 공간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46136" y="2596896"/>
            <a:ext cx="33403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뛰어놀 수 있는 자리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35624" y="3163824"/>
            <a:ext cx="5370271" cy="475488"/>
          </a:xfrm>
          <a:prstGeom prst="roundRect">
            <a:avLst>
              <a:gd name="adj" fmla="val 19231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31638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쉼터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46136" y="3163824"/>
            <a:ext cx="33403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앉아 쉴 수 있는 자리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35624" y="3730752"/>
            <a:ext cx="5370271" cy="475488"/>
          </a:xfrm>
          <a:prstGeom prst="roundRect">
            <a:avLst>
              <a:gd name="adj" fmla="val 19231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37307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이동길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946136" y="3730752"/>
            <a:ext cx="33403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유아차·휠체어도 지나는 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35624" y="4498848"/>
            <a:ext cx="5370271" cy="73152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91656" y="4498848"/>
            <a:ext cx="48582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주민의 요구를 두 가지 이상 반영해요.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135624" y="5413248"/>
            <a:ext cx="53702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입구와 각 공간을 길로 연결하고, 그렇게 정한 까닭을 함께 적어요.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3583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카드와 도면은 모둠 책상 위에서만 주고받고, 자리에서 일어나 뛰지 않아요.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2 · 15분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회의를 도와주는 질문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회의가 한쪽으로 기울 때, 이 두 질문이 다시 길을 열어 주어요.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5218024" cy="2615184"/>
          </a:xfrm>
          <a:prstGeom prst="roundRect">
            <a:avLst>
              <a:gd name="adj" fmla="val 489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432304"/>
            <a:ext cx="452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2798064"/>
            <a:ext cx="452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바람이</a:t>
            </a:r>
            <a:endParaRPr lang="en-US" sz="25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빠져 있나요?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931920"/>
            <a:ext cx="452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역할 카드를 모두 펼쳐 놓고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사람이 있는지 확인해요.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87872" y="2212848"/>
            <a:ext cx="5218024" cy="2615184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35344" y="2432304"/>
            <a:ext cx="452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262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35344" y="2798064"/>
            <a:ext cx="452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의견을 함께</a:t>
            </a:r>
            <a:endParaRPr lang="en-US" sz="25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반영할 수 있을까요?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6635344" y="3931920"/>
            <a:ext cx="452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버리는 대신, 자리를 나누거나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시간을 나누는 방법을 찾아요.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047488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교사용 참고  ·  모둠을 돌며 한 번씩 건네 주세요. 답을 정해 주지 않고, 모둠이 스스로 고치게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3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37160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17904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18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배움 몰입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21024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모둠 의견 듣기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4718304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7183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471830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모둠의 눈으로 우리 제안을 다시 살펴보아요.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3 · 8분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모둠 의견 듣기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설명하고, 듣고, 한 가지를 고치는 순서로 진행해요.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3326282" cy="1975104"/>
          </a:xfrm>
          <a:prstGeom prst="roundRect">
            <a:avLst>
              <a:gd name="adj" fmla="val 4630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2395728"/>
            <a:ext cx="30336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설명하기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779776"/>
            <a:ext cx="303367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모둠에 우리 공원의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배치와 그렇게 정한 이유를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설명해요.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94378" y="3081528"/>
            <a:ext cx="256032" cy="23774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2706" y="2212848"/>
            <a:ext cx="3326282" cy="1975104"/>
          </a:xfrm>
          <a:prstGeom prst="roundRect">
            <a:avLst>
              <a:gd name="adj" fmla="val 4630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9010" y="2395728"/>
            <a:ext cx="30336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 주기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9010" y="2779776"/>
            <a:ext cx="303367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모둠은 좋은 점 한 가지,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불편할 수 있는 사람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가지를 이야기해요.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41285" y="3081528"/>
            <a:ext cx="256032" cy="23774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79613" y="2212848"/>
            <a:ext cx="3326282" cy="1975104"/>
          </a:xfrm>
          <a:prstGeom prst="roundRect">
            <a:avLst>
              <a:gd name="adj" fmla="val 4630"/>
            </a:avLst>
          </a:prstGeom>
          <a:solidFill>
            <a:srgbClr val="F7FAF4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5917" y="2395728"/>
            <a:ext cx="30336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고치기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5917" y="2779776"/>
            <a:ext cx="303367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받은 모둠은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배치나 이용 약속을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수정해요.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443984"/>
            <a:ext cx="10820095" cy="932688"/>
          </a:xfrm>
          <a:prstGeom prst="roundRect">
            <a:avLst>
              <a:gd name="adj" fmla="val 9804"/>
            </a:avLst>
          </a:prstGeom>
          <a:solidFill>
            <a:srgbClr val="EDF3E7"/>
          </a:solidFill>
          <a:ln w="12700">
            <a:solidFill>
              <a:srgbClr val="EDF3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96696" y="4443984"/>
            <a:ext cx="1019830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말할 때는 배치를 고른 ‘사람’을 말해요.  예) “유아차를 미는 주민은 이 길이 좁아 지나가기 어려울 것 같아요.”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541264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내용은 지우지 말고 옆에 덧붙여 적어요. 처음 생각과 고친 생각이 함께 보이도록 남겨 두세요.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48295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4분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우리들의 마을 제안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완성한 제안을 세 칸에 기록하고 발표해요.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12848"/>
            <a:ext cx="335066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12848"/>
            <a:ext cx="3350666" cy="566928"/>
          </a:xfrm>
          <a:prstGeom prst="roundRect">
            <a:avLst>
              <a:gd name="adj" fmla="val 1935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212848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우리의 제안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2907792"/>
            <a:ext cx="28386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공원을 어떻게</a:t>
            </a:r>
            <a:endParaRPr lang="en-US" sz="13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배치했나요?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20514" y="2212848"/>
            <a:ext cx="335066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0514" y="2212848"/>
            <a:ext cx="3350666" cy="566928"/>
          </a:xfrm>
          <a:prstGeom prst="roundRect">
            <a:avLst>
              <a:gd name="adj" fmla="val 1935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03394" y="2212848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되는 사람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76546" y="2907792"/>
            <a:ext cx="28386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배치로 누가</a:t>
            </a:r>
            <a:endParaRPr lang="en-US" sz="13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편해지나요?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5229" y="2212848"/>
            <a:ext cx="335066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5229" y="2212848"/>
            <a:ext cx="3350666" cy="566928"/>
          </a:xfrm>
          <a:prstGeom prst="roundRect">
            <a:avLst>
              <a:gd name="adj" fmla="val 1935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38109" y="2212848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정한 이유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11261" y="2907792"/>
            <a:ext cx="28386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이렇게</a:t>
            </a:r>
            <a:endParaRPr lang="en-US" sz="13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7C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정했나요?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5902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62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마지막으로 확인해요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974336"/>
            <a:ext cx="10820095" cy="475488"/>
          </a:xfrm>
          <a:prstGeom prst="roundRect">
            <a:avLst>
              <a:gd name="adj" fmla="val 19231"/>
            </a:avLst>
          </a:prstGeom>
          <a:solidFill>
            <a:srgbClr val="EDF3E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5065776"/>
            <a:ext cx="292608" cy="29260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5065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307592" y="4974336"/>
            <a:ext cx="99056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두 가지 이상의 요구가 반영되었나요?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5541264"/>
            <a:ext cx="10820095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" y="5632704"/>
            <a:ext cx="292608" cy="29260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6968" y="5632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307592" y="5541264"/>
            <a:ext cx="99056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어린이가 실천할 일과 어른 · 기관에 요청할 일을 구분했나요?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3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37160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200" kern="0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탐험을 마치며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63040"/>
            <a:ext cx="98755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고장을 알고,</a:t>
            </a:r>
            <a:endParaRPr lang="en-US" sz="38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쓰는 마을을 제안하기까지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3346704"/>
            <a:ext cx="2471852" cy="1700784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3544" y="3529584"/>
            <a:ext cx="1996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1~2차시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23544" y="3858768"/>
            <a:ext cx="19963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역사와 사람들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4315968"/>
            <a:ext cx="1996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유관순 · 이순신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68548" y="3346704"/>
            <a:ext cx="2471852" cy="1700784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6292" y="3529584"/>
            <a:ext cx="1996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3~4차시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06292" y="3858768"/>
            <a:ext cx="19963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여행지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06292" y="4315968"/>
            <a:ext cx="1996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천안삼거리공원 · 신정호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1296" y="3346704"/>
            <a:ext cx="2471852" cy="1700784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89040" y="3529584"/>
            <a:ext cx="1996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5~6차시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89040" y="3858768"/>
            <a:ext cx="19963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특산물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89040" y="4315968"/>
            <a:ext cx="1996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8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호두과자 · 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34043" y="3346704"/>
            <a:ext cx="2471852" cy="1700784"/>
          </a:xfrm>
          <a:prstGeom prst="roundRect">
            <a:avLst>
              <a:gd name="adj" fmla="val 6452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71787" y="3529584"/>
            <a:ext cx="1996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7~8차시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71787" y="3858768"/>
            <a:ext cx="19963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생활과 공동체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71787" y="4315968"/>
            <a:ext cx="1996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 연결지도 · 마을 공원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79729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3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앵커 늘봄 프로그램  ·  천안 · 아산 〈호서대학교〉  ·  우리고장 탐험놀이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우리고장 탐험놀이 7~8차시 수업용 프레젠테이션</dc:title>
  <dc:subject>PptxGenJS Presentation</dc:subject>
  <dc:creator>우리고장 탐험놀이 개발팀</dc:creator>
  <cp:lastModifiedBy>우리고장 탐험놀이 개발팀</cp:lastModifiedBy>
  <cp:revision>1</cp:revision>
  <dcterms:created xsi:type="dcterms:W3CDTF">2026-09-30T03:23:18Z</dcterms:created>
  <dcterms:modified xsi:type="dcterms:W3CDTF">2026-09-30T03:23:18Z</dcterms:modified>
</cp:coreProperties>
</file>